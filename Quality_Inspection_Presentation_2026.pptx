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ยอดชิ้นงาน OK / NG รายวัน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OK (units)</c:v>
                </c:pt>
              </c:strCache>
            </c:strRef>
          </c:tx>
          <c:spPr>
            <a:solidFill>
              <a:srgbClr val="4CAF50"/>
            </a:solidFill>
          </c:spPr>
          <c:cat>
            <c:strRef>
              <c:f>Sheet1!$A$2:$A$7</c:f>
              <c:strCache>
                <c:ptCount val="6"/>
                <c:pt idx="0">
                  <c:v>May-11</c:v>
                </c:pt>
                <c:pt idx="1">
                  <c:v>May-12</c:v>
                </c:pt>
                <c:pt idx="2">
                  <c:v>May-13</c:v>
                </c:pt>
                <c:pt idx="3">
                  <c:v>May-14</c:v>
                </c:pt>
                <c:pt idx="4">
                  <c:v>May-15</c:v>
                </c:pt>
                <c:pt idx="5">
                  <c:v>May-16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393</c:v>
                </c:pt>
                <c:pt idx="1">
                  <c:v>396</c:v>
                </c:pt>
                <c:pt idx="2">
                  <c:v>395</c:v>
                </c:pt>
                <c:pt idx="3">
                  <c:v>396</c:v>
                </c:pt>
                <c:pt idx="4">
                  <c:v>396</c:v>
                </c:pt>
                <c:pt idx="5">
                  <c:v>400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NG (units)</c:v>
                </c:pt>
              </c:strCache>
            </c:strRef>
          </c:tx>
          <c:spPr>
            <a:solidFill>
              <a:srgbClr val="F44336"/>
            </a:solidFill>
          </c:spPr>
          <c:cat>
            <c:strRef>
              <c:f>Sheet1!$A$2:$A$7</c:f>
              <c:strCache>
                <c:ptCount val="6"/>
                <c:pt idx="0">
                  <c:v>May-11</c:v>
                </c:pt>
                <c:pt idx="1">
                  <c:v>May-12</c:v>
                </c:pt>
                <c:pt idx="2">
                  <c:v>May-13</c:v>
                </c:pt>
                <c:pt idx="3">
                  <c:v>May-14</c:v>
                </c:pt>
                <c:pt idx="4">
                  <c:v>May-15</c:v>
                </c:pt>
                <c:pt idx="5">
                  <c:v>May-16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  <c:pt idx="5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3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r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สัดส่วน NG แยกตามจุดตรวจ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NG Count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Expansion Valve</c:v>
                </c:pt>
                <c:pt idx="1">
                  <c:v>Filter Drier</c:v>
                </c:pt>
                <c:pt idx="2">
                  <c:v>Bolt &amp; Washer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เวลาประมวลผลเฉลี่ยรายวัน vs เป้าหมาย 500 ms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Process Time (ms)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May-11</c:v>
                </c:pt>
                <c:pt idx="1">
                  <c:v>May-12</c:v>
                </c:pt>
                <c:pt idx="2">
                  <c:v>May-13</c:v>
                </c:pt>
                <c:pt idx="3">
                  <c:v>May-14</c:v>
                </c:pt>
                <c:pt idx="4">
                  <c:v>May-15</c:v>
                </c:pt>
                <c:pt idx="5">
                  <c:v>May-16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287</c:v>
                </c:pt>
                <c:pt idx="1">
                  <c:v>312</c:v>
                </c:pt>
                <c:pt idx="2">
                  <c:v>298</c:v>
                </c:pt>
                <c:pt idx="3">
                  <c:v>275</c:v>
                </c:pt>
                <c:pt idx="4">
                  <c:v>263</c:v>
                </c:pt>
                <c:pt idx="5">
                  <c:v>341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(500 ms)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May-11</c:v>
                </c:pt>
                <c:pt idx="1">
                  <c:v>May-12</c:v>
                </c:pt>
                <c:pt idx="2">
                  <c:v>May-13</c:v>
                </c:pt>
                <c:pt idx="3">
                  <c:v>May-14</c:v>
                </c:pt>
                <c:pt idx="4">
                  <c:v>May-15</c:v>
                </c:pt>
                <c:pt idx="5">
                  <c:v>May-16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500</c:v>
                </c:pt>
                <c:pt idx="1">
                  <c:v>500</c:v>
                </c:pt>
                <c:pt idx="2">
                  <c:v>500</c:v>
                </c:pt>
                <c:pt idx="3">
                  <c:v>500</c:v>
                </c:pt>
                <c:pt idx="4">
                  <c:v>500</c:v>
                </c:pt>
                <c:pt idx="5">
                  <c:v>500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00.0"/>
          <c:min val="0.0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88952" cy="256032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12188952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ระบบตรวจสอบคุณภาพการประกอบ Heat Pump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D600"/>
                </a:solidFill>
              </a:rPr>
              <a:t>ด้วยกล้องอุตสาหกรรมและ OpenCV Template Matching แบบ Real-time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09090"/>
                </a:solidFill>
              </a:rPr>
              <a:t>Real-time Quality Inspection System using Industrial Camera &amp; Computer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51760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ผลการทดสอบระบบ  |  วันที่ 11 – 16 พฤษภาคม 2569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3383280"/>
            <a:ext cx="7616952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5661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5F5F5"/>
                </a:solidFill>
              </a:rPr>
              <a:t>โครงงานวิศวกรรมอุตสาหการ  |  Industrial Engineering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02336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9090"/>
                </a:solidFill>
              </a:rPr>
              <a:t>สาขาวิชาวิศวกรรมอุตสาหการ  คณะวิศวกรรมศาสตร์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846320"/>
            <a:ext cx="2286000" cy="1417320"/>
          </a:xfrm>
          <a:prstGeom prst="rect">
            <a:avLst/>
          </a:prstGeom>
          <a:solidFill>
            <a:srgbClr val="0A1F55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93776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196F3"/>
                </a:solidFill>
              </a:rPr>
              <a:t>2,384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577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ชิ้นงานตรวจสอบ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4846320"/>
            <a:ext cx="2286000" cy="1417320"/>
          </a:xfrm>
          <a:prstGeom prst="rect">
            <a:avLst/>
          </a:prstGeom>
          <a:solidFill>
            <a:srgbClr val="0A1F55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39" y="493776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CAF50"/>
                </a:solidFill>
              </a:rPr>
              <a:t>2,376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5577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ผ่านการตรวจ (OK)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846320"/>
            <a:ext cx="2286000" cy="1417320"/>
          </a:xfrm>
          <a:prstGeom prst="rect">
            <a:avLst/>
          </a:prstGeom>
          <a:solidFill>
            <a:srgbClr val="0A1F55"/>
          </a:solidFill>
          <a:ln w="1905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93776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44336"/>
                </a:solidFill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577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พบของเสีย (NG)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19" y="4846320"/>
            <a:ext cx="2286000" cy="1417320"/>
          </a:xfrm>
          <a:prstGeom prst="rect">
            <a:avLst/>
          </a:prstGeom>
          <a:solidFill>
            <a:srgbClr val="0A1F55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59" y="493776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600"/>
                </a:solidFill>
              </a:rPr>
              <a:t>97.5%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59" y="5577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ความแม่นยำ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600"/>
                </a:solidFill>
              </a:rPr>
              <a:t>O-Ring / Heat Pump Quality Inspection System | ระบบตรวจสอบคุณภาพด้วย AI Vision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สารบัญ  | 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600"/>
                </a:solidFill>
              </a:rPr>
              <a:t>O-Ring / Heat Pump Quality Inspection System | ระบบตรวจสอบคุณภาพด้วย AI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48640" cy="6400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2984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</a:rPr>
              <a:t>วัตถุประสงค์โครงงาน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64591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9090"/>
                </a:solidFill>
              </a:rPr>
              <a:t>Project Objectives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548640" cy="6400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30428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</a:rPr>
              <a:t>ขอบเขตการดำเนินงาน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6517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9090"/>
                </a:solidFill>
              </a:rPr>
              <a:t>Project Scope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91840"/>
            <a:ext cx="548640" cy="6400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383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101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</a:rPr>
              <a:t>สถาปัตยกรรมระบบ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6576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9090"/>
                </a:solidFill>
              </a:rPr>
              <a:t>System Architecture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297680"/>
            <a:ext cx="548640" cy="6400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389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31596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</a:rPr>
              <a:t>ผลการทดสอบรายวัน (11–16 พ.ค.)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6634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9090"/>
                </a:solidFill>
              </a:rPr>
              <a:t>Daily Test Results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303520"/>
            <a:ext cx="548640" cy="6400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394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32180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</a:rPr>
              <a:t>การวิเคราะห์ข้อบกพร่อง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669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9090"/>
                </a:solidFill>
              </a:rPr>
              <a:t>Defect Analysis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280160"/>
            <a:ext cx="548640" cy="6400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12984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</a:rPr>
              <a:t>ความแม่นยำในการตรวจจับ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164591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9090"/>
                </a:solidFill>
              </a:rPr>
              <a:t>Detection Accuracy (≥95%)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286000"/>
            <a:ext cx="548640" cy="6400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230428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</a:rPr>
              <a:t>ประสิทธิภาพเวลาประมวลผล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26517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9090"/>
                </a:solidFill>
              </a:rPr>
              <a:t>Processing Time (&lt;500 ms)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291840"/>
            <a:ext cx="548640" cy="6400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3383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33101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</a:rPr>
              <a:t>การลดต้นทุนและเวลา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36576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9090"/>
                </a:solidFill>
              </a:rPr>
              <a:t>Cost &amp; Time Reduction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4297680"/>
            <a:ext cx="548640" cy="6400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4389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431596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</a:rPr>
              <a:t>สรุปผลและข้อเสนอแนะ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46634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9090"/>
                </a:solidFill>
              </a:rPr>
              <a:t>Conclusion &amp;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วัตถุประสงค์โครงงาน  |  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600"/>
                </a:solidFill>
              </a:rPr>
              <a:t>O-Ring / Heat Pump Quality Inspection System | ระบบตรวจสอบคุณภาพด้วย AI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566928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502920" cy="15087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73736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3716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96F3"/>
                </a:solidFill>
              </a:rPr>
              <a:t>ศึกษาสภาพปัญหา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8308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วิเคราะห์ลักษณะข้อบกพร่องจาก Human Error ในกระบวนการประกอบ Heat Pump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17520"/>
            <a:ext cx="566928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017520"/>
            <a:ext cx="502920" cy="15087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4747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1089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97B"/>
                </a:solidFill>
              </a:rPr>
              <a:t>พัฒนาระบบ Real-time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20439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ออกแบบระบบด้วยกล้องอุตสาหกรรม + OpenCV Template Matching ที่มีความเร็ว &lt; 500 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754879"/>
            <a:ext cx="566928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754879"/>
            <a:ext cx="502920" cy="15087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5212079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4631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</a:rPr>
              <a:t>ความแม่นยำ ≥ 95%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257799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ระบบต้องตรวจพบของเสีย (NG) ได้ไม่น้อยกว่า 95% ของทั้งหมด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280160"/>
            <a:ext cx="566928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280160"/>
            <a:ext cx="502920" cy="15087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73736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13716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5100"/>
                </a:solidFill>
              </a:rPr>
              <a:t>ลดต้นทุนการเคลม 50%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178308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ลดค่าใช้จ่ายจากการเคลมของเสียที่หลุดรอดจากกระบวนการลงอย่างน้อย 50%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017520"/>
            <a:ext cx="566928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017520"/>
            <a:ext cx="502920" cy="15087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4747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31089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96F3"/>
                </a:solidFill>
              </a:rPr>
              <a:t>ลดเวลา/ต้นทุน &gt; 50%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3520439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ลดเวลาและต้นทุนระหว่างกระบวนการผลิต ให้มากกว่า 50%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754879"/>
            <a:ext cx="566928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4754879"/>
            <a:ext cx="502920" cy="15087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5212079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484631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97B"/>
                </a:solidFill>
              </a:rPr>
              <a:t>ต่อยอดระบบ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5257799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เสนอแนวทางการประยุกต์ใช้และขยายระบบในโรงงานอุตสาหกรรมจริง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ขอบเขตโครงงาน  |  Project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600"/>
                </a:solidFill>
              </a:rPr>
              <a:t>O-Ring / Heat Pump Quality Inspection System | ระบบตรวจสอบคุณภาพด้วย AI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4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5029200" cy="5394960"/>
          </a:xfrm>
          <a:prstGeom prst="rect">
            <a:avLst/>
          </a:prstGeom>
          <a:solidFill>
            <a:srgbClr val="FFFFFF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76C"/>
                </a:solidFill>
              </a:rPr>
              <a:t>🔧  จุดตรวจสอบ 8 จุด  |  8 Inspection Points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691640"/>
            <a:ext cx="594360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764792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7830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Filter Drier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258568"/>
            <a:ext cx="594360" cy="4572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3317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HGV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35000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Hot Gas Valve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825496"/>
            <a:ext cx="594360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898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916936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Expansion Valve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392424"/>
            <a:ext cx="594360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465576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48386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High Pressure Sensor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959352"/>
            <a:ext cx="594360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032504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CSR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050791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Common-Start-Run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526280"/>
            <a:ext cx="594360" cy="4572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599432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6177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Check Valve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093208"/>
            <a:ext cx="594360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516636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BW1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18464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Bolt &amp; Washer #1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660136"/>
            <a:ext cx="594360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573328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BW2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751575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Bolt &amp; Washer #2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1325880"/>
            <a:ext cx="320040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0" y="13258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7880" y="128016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ตรวจสอบชิ้นงานในกระบวนการประกอบ Heat Pump ตามจุดตรวจที่กำหนด 8 จุด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1984248"/>
            <a:ext cx="320040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0" y="19842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193852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ใช้กล้องอุตสาหกรรม HikRobot (หรือ USB/IP Camera) สำหรับตรวจจับภาพชิ้นงาน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0" y="2642616"/>
            <a:ext cx="320040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0" y="264261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7880" y="2596896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ประมวลผลภาพด้วย OpenCV เทคนิค Template Matching, Color และ Edge Detection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3300984"/>
            <a:ext cx="320040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0" y="330098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97880" y="3255264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ตรวจสอบการมีอยู่ของชิ้นส่วน: Bolt &amp; Washer และ Expansion Valve Nut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0" y="3959352"/>
            <a:ext cx="320040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0" y="39593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7880" y="3913632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ตรวจสอบความถูกต้อง: Wiring C-S-R, High Pressure Sensor, Filter Drier, Check Valve, Hot Gas Valve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0" y="4617719"/>
            <a:ext cx="320040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0" y="461771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97880" y="4571999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แสดงผล OK / NG แบบ Real-time พร้อมบันทึก Log และภาพผล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0" y="5276088"/>
            <a:ext cx="320040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0" y="52760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97880" y="523036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ระบบทำงานบน PC ทั่วไป ไม่ต้องใช้ฮาร์ดแวร์เฉพาะทาง (GPU ไม่จำเป็น)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0" y="5934456"/>
            <a:ext cx="320040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0" y="593445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97880" y="5888736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ทดสอบระบบ 6 วันทำการ (11–16 พฤษภาคม 2569) รวม 2,388 ชิ้น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สถาปัตยกรรมระบบ  | 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600"/>
                </a:solidFill>
              </a:rPr>
              <a:t>O-Ring / Heat Pump Quality Inspection System | ระบบตรวจสอบคุณภาพด้วย AI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5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3657600" cy="5394960"/>
          </a:xfrm>
          <a:prstGeom prst="rect">
            <a:avLst/>
          </a:prstGeom>
          <a:solidFill>
            <a:srgbClr val="FFFFFF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3657600" cy="4572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Hardware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24242"/>
                </a:solidFill>
              </a:rPr>
              <a:t>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7373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6C"/>
                </a:solidFill>
              </a:rPr>
              <a:t>HikRobot Industrial Camera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084831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09090"/>
                </a:solidFill>
              </a:rPr>
              <a:t>MV-CA013-20GC (1.3 MP, GigE)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88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24242"/>
                </a:solidFill>
              </a:rPr>
              <a:t>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7889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6C"/>
                </a:solidFill>
              </a:rPr>
              <a:t>Processing PC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136391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09090"/>
                </a:solidFill>
              </a:rPr>
              <a:t>Intel Core i5, RAM 8 GB, Windows 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404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24242"/>
                </a:solidFill>
              </a:rPr>
              <a:t>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84047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6C"/>
                </a:solidFill>
              </a:rPr>
              <a:t>GigE Network Adapter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187951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09090"/>
                </a:solidFill>
              </a:rPr>
              <a:t>1 Gbps dedicated 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92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24242"/>
                </a:solidFill>
              </a:rP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920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6C"/>
                </a:solidFill>
              </a:rPr>
              <a:t>LED Ring Light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2395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09090"/>
                </a:solidFill>
              </a:rPr>
              <a:t>ให้แสงสม่ำเสมอลดเงา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3749039"/>
            <a:ext cx="457200" cy="914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86200" y="3611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196F3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1188720"/>
            <a:ext cx="3657600" cy="5394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1188720"/>
            <a:ext cx="3657600" cy="4572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Software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24242"/>
                </a:solidFill>
              </a:rPr>
              <a:t>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17373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97B"/>
                </a:solidFill>
              </a:rPr>
              <a:t>Python 3.11 + Flet 0.84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2084831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09090"/>
                </a:solidFill>
              </a:rPr>
              <a:t>Cross-platform UI Framework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25786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24242"/>
                </a:solidFill>
              </a:rPr>
              <a:t>👁️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257860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97B"/>
                </a:solidFill>
              </a:rPr>
              <a:t>OpenCV 4.x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2926079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09090"/>
                </a:solidFill>
              </a:rPr>
              <a:t>Template Matching, Color Detection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341985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24242"/>
                </a:solidFill>
              </a:rPr>
              <a:t>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3480" y="341985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97B"/>
                </a:solidFill>
              </a:rPr>
              <a:t>HikRobot MVS SDK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37673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09090"/>
                </a:solidFill>
              </a:rPr>
              <a:t>Camera Control &amp; Frame Grab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42611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24242"/>
                </a:solidFill>
              </a:rPr>
              <a:t>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3480" y="426110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97B"/>
                </a:solidFill>
              </a:rPr>
              <a:t>PIL / NumPy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83480" y="460857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09090"/>
                </a:solidFill>
              </a:rPr>
              <a:t>Image Processing &amp; Annotation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51023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24242"/>
                </a:solidFill>
              </a:rPr>
              <a:t>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83480" y="51023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97B"/>
                </a:solidFill>
              </a:rPr>
              <a:t>CSV Log + JPEG Save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83480" y="544982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09090"/>
                </a:solidFill>
              </a:rPr>
              <a:t>Automatic data recording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9560" y="3611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65100"/>
                </a:solidFill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1188720"/>
            <a:ext cx="3566160" cy="5394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21040" y="1188720"/>
            <a:ext cx="3566160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40" y="11887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Output Layer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24242"/>
                </a:solidFill>
              </a:rPr>
              <a:t>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06840" y="17373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5100"/>
                </a:solidFill>
              </a:rPr>
              <a:t>Real-time Display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6840" y="2084831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09090"/>
                </a:solidFill>
              </a:rPr>
              <a:t>OK / NG ทันที &lt; 500 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25786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24242"/>
                </a:solidFill>
              </a:rPr>
              <a:t>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6840" y="257860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5100"/>
                </a:solidFill>
              </a:rPr>
              <a:t>NG Banner Overlay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6840" y="2926079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09090"/>
                </a:solidFill>
              </a:rPr>
              <a:t>ชื่อจุดบกพร่อง + คำอธิบาย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341985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24242"/>
                </a:solidFill>
              </a:rPr>
              <a:t>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06840" y="341985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5100"/>
                </a:solidFill>
              </a:rPr>
              <a:t>CSV Log File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06840" y="37673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09090"/>
                </a:solidFill>
              </a:rPr>
              <a:t>บันทึกทุก timestamp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42611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24242"/>
                </a:solidFill>
              </a:rPr>
              <a:t>🖼️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06840" y="426110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5100"/>
                </a:solidFill>
              </a:rPr>
              <a:t>JPEG Image Archive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06840" y="460857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09090"/>
                </a:solidFill>
              </a:rPr>
              <a:t>ภาพผลพร้อม Annotation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20" y="51023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24242"/>
                </a:solidFill>
              </a:rPr>
              <a:t>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06840" y="51023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5100"/>
                </a:solidFill>
              </a:rPr>
              <a:t>Dashboard Report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06840" y="544982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09090"/>
                </a:solidFill>
              </a:rPr>
              <a:t>สรุปสถิติรายวัน/รายสัปดาห์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ผลการตรวจสอบรายวัน  |  Daily Inspection Results  (11–16 พ.ค. 2569)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600"/>
                </a:solidFill>
              </a:rPr>
              <a:t>O-Ring / Heat Pump Quality Inspection System | ระบบตรวจสอบคุณภาพด้วย AI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6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2148840" cy="1234440"/>
          </a:xfrm>
          <a:prstGeom prst="rect">
            <a:avLst/>
          </a:prstGeom>
          <a:solidFill>
            <a:srgbClr val="F5F5F5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0759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ชิ้นงานทั้งหมด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81912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196F3"/>
                </a:solidFill>
              </a:rPr>
              <a:t>2,384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3055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9090"/>
                </a:solidFill>
              </a:rPr>
              <a:t>units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1234440"/>
            <a:ext cx="2148840" cy="1234440"/>
          </a:xfrm>
          <a:prstGeom prst="rect">
            <a:avLst/>
          </a:prstGeom>
          <a:solidFill>
            <a:srgbClr val="F5F5F5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130759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ผ่านการตรวจ (OK)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581912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4CAF50"/>
                </a:solidFill>
              </a:rPr>
              <a:t>2,376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13055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9090"/>
                </a:solidFill>
              </a:rPr>
              <a:t>units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1234440"/>
            <a:ext cx="2148840" cy="1234440"/>
          </a:xfrm>
          <a:prstGeom prst="rect">
            <a:avLst/>
          </a:prstGeom>
          <a:solidFill>
            <a:srgbClr val="F5F5F5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30759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พบของเสีย (NG)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581912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44336"/>
                </a:solidFill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13055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9090"/>
                </a:solidFill>
              </a:rPr>
              <a:t>units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1234440"/>
            <a:ext cx="2148840" cy="1234440"/>
          </a:xfrm>
          <a:prstGeom prst="rect">
            <a:avLst/>
          </a:prstGeom>
          <a:solidFill>
            <a:srgbClr val="F5F5F5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130759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อัตรา 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1581912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897B"/>
                </a:solidFill>
              </a:rPr>
              <a:t>99.66%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13055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9090"/>
                </a:solidFill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1234440"/>
            <a:ext cx="2148840" cy="1234440"/>
          </a:xfrm>
          <a:prstGeom prst="rect">
            <a:avLst/>
          </a:prstGeom>
          <a:solidFill>
            <a:srgbClr val="F5F5F5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130759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อัตรา 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1581912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65100"/>
                </a:solidFill>
              </a:rPr>
              <a:t>0.34%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13055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9090"/>
                </a:solidFill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2651760"/>
            <a:ext cx="1371600" cy="475488"/>
          </a:xfrm>
          <a:prstGeom prst="rect">
            <a:avLst/>
          </a:prstGeom>
          <a:solidFill>
            <a:srgbClr val="1A376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2670048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วันที่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651760"/>
            <a:ext cx="1280160" cy="475488"/>
          </a:xfrm>
          <a:prstGeom prst="rect">
            <a:avLst/>
          </a:prstGeom>
          <a:solidFill>
            <a:srgbClr val="1A376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45920" y="2670048"/>
            <a:ext cx="118871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วันทำงาน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60" y="2651760"/>
            <a:ext cx="868680" cy="475488"/>
          </a:xfrm>
          <a:prstGeom prst="rect">
            <a:avLst/>
          </a:prstGeom>
          <a:solidFill>
            <a:srgbClr val="1A376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79" y="2670048"/>
            <a:ext cx="777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ผลิต
(units)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39" y="2651760"/>
            <a:ext cx="1234440" cy="475488"/>
          </a:xfrm>
          <a:prstGeom prst="rect">
            <a:avLst/>
          </a:prstGeom>
          <a:solidFill>
            <a:srgbClr val="1A376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4759" y="2670048"/>
            <a:ext cx="11430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OK
(units)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83479" y="2651760"/>
            <a:ext cx="1234440" cy="475488"/>
          </a:xfrm>
          <a:prstGeom prst="rect">
            <a:avLst/>
          </a:prstGeom>
          <a:solidFill>
            <a:srgbClr val="1A376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199" y="2670048"/>
            <a:ext cx="11430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NG
(units)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19" y="2651760"/>
            <a:ext cx="1051560" cy="475488"/>
          </a:xfrm>
          <a:prstGeom prst="rect">
            <a:avLst/>
          </a:prstGeom>
          <a:solidFill>
            <a:srgbClr val="1A376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39" y="2670048"/>
            <a:ext cx="96011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NG Rate
(%)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69479" y="2651760"/>
            <a:ext cx="1234440" cy="475488"/>
          </a:xfrm>
          <a:prstGeom prst="rect">
            <a:avLst/>
          </a:prstGeom>
          <a:solidFill>
            <a:srgbClr val="1A376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199" y="2670048"/>
            <a:ext cx="11430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OK Rate
(%)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19" y="2651760"/>
            <a:ext cx="1325880" cy="475488"/>
          </a:xfrm>
          <a:prstGeom prst="rect">
            <a:avLst/>
          </a:prstGeom>
          <a:solidFill>
            <a:srgbClr val="1A376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40" y="2670048"/>
            <a:ext cx="123443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Process Time
(avg ms)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29799" y="2651760"/>
            <a:ext cx="1325880" cy="475488"/>
          </a:xfrm>
          <a:prstGeom prst="rect">
            <a:avLst/>
          </a:prstGeom>
          <a:solidFill>
            <a:srgbClr val="1A376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19" y="2670048"/>
            <a:ext cx="123443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สถานะ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3127248"/>
            <a:ext cx="13716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3218688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11 พ.ค.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00200" y="3127248"/>
            <a:ext cx="12801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45920" y="3218688"/>
            <a:ext cx="11887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วันจันทร์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80360" y="3127248"/>
            <a:ext cx="8686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26079" y="3218688"/>
            <a:ext cx="777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76C"/>
                </a:solidFill>
              </a:rPr>
              <a:t>396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49039" y="3127248"/>
            <a:ext cx="12344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94759" y="3218688"/>
            <a:ext cx="1143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</a:rPr>
              <a:t>393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83479" y="3127248"/>
            <a:ext cx="12344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199" y="3218688"/>
            <a:ext cx="1143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4336"/>
                </a:solidFill>
              </a:rPr>
              <a:t>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19" y="3127248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63639" y="3218688"/>
            <a:ext cx="9601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44336"/>
                </a:solidFill>
              </a:rPr>
              <a:t>0.76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69479" y="3127248"/>
            <a:ext cx="12344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199" y="3218688"/>
            <a:ext cx="1143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7D32"/>
                </a:solidFill>
              </a:rPr>
              <a:t>99.24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03919" y="3127248"/>
            <a:ext cx="13258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49640" y="3218688"/>
            <a:ext cx="12344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897B"/>
                </a:solidFill>
              </a:rPr>
              <a:t>287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29799" y="3127248"/>
            <a:ext cx="13258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75519" y="3218688"/>
            <a:ext cx="12344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4336"/>
                </a:solidFill>
              </a:rPr>
              <a:t>⚠️ พบ 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" y="3602736"/>
            <a:ext cx="137160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3694176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12 พ.ค.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600200" y="3602736"/>
            <a:ext cx="128016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645920" y="3694176"/>
            <a:ext cx="11887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วันอังคาร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880360" y="3602736"/>
            <a:ext cx="86868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26079" y="3694176"/>
            <a:ext cx="777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76C"/>
                </a:solidFill>
              </a:rPr>
              <a:t>396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49039" y="3602736"/>
            <a:ext cx="123444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94759" y="3694176"/>
            <a:ext cx="1143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</a:rPr>
              <a:t>396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983479" y="3602736"/>
            <a:ext cx="123444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29199" y="3694176"/>
            <a:ext cx="1143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09090"/>
                </a:solidFill>
              </a:rPr>
              <a:t>-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17919" y="3602736"/>
            <a:ext cx="105156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63639" y="3694176"/>
            <a:ext cx="9601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9090"/>
                </a:solidFill>
              </a:rPr>
              <a:t>0.00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69479" y="3602736"/>
            <a:ext cx="123444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15199" y="3694176"/>
            <a:ext cx="1143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7D32"/>
                </a:solidFill>
              </a:rPr>
              <a:t>100.00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503919" y="3602736"/>
            <a:ext cx="132588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49640" y="3694176"/>
            <a:ext cx="12344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897B"/>
                </a:solidFill>
              </a:rPr>
              <a:t>312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829799" y="3602736"/>
            <a:ext cx="132588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875519" y="3694176"/>
            <a:ext cx="12344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</a:rPr>
              <a:t>✅ ปกติ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28600" y="4078224"/>
            <a:ext cx="13716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74320" y="4169663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13 พ.ค.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600200" y="4078224"/>
            <a:ext cx="12801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645920" y="4169663"/>
            <a:ext cx="11887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วันพุธ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880360" y="4078224"/>
            <a:ext cx="8686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926079" y="4169663"/>
            <a:ext cx="777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76C"/>
                </a:solidFill>
              </a:rPr>
              <a:t>396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749039" y="4078224"/>
            <a:ext cx="12344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794759" y="4169663"/>
            <a:ext cx="1143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</a:rPr>
              <a:t>395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983479" y="4078224"/>
            <a:ext cx="12344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029199" y="4169663"/>
            <a:ext cx="1143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4336"/>
                </a:solidFill>
              </a:rPr>
              <a:t>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217919" y="4078224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263639" y="4169663"/>
            <a:ext cx="9601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44336"/>
                </a:solidFill>
              </a:rPr>
              <a:t>0.25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269479" y="4078224"/>
            <a:ext cx="12344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315199" y="4169663"/>
            <a:ext cx="1143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7D32"/>
                </a:solidFill>
              </a:rPr>
              <a:t>99.75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03919" y="4078224"/>
            <a:ext cx="13258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549640" y="4169663"/>
            <a:ext cx="12344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897B"/>
                </a:solidFill>
              </a:rPr>
              <a:t>298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829799" y="4078224"/>
            <a:ext cx="13258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875519" y="4169663"/>
            <a:ext cx="12344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4336"/>
                </a:solidFill>
              </a:rPr>
              <a:t>⚠️ พบ NG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28600" y="4553712"/>
            <a:ext cx="137160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74320" y="4645152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14 พ.ค.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600200" y="4553712"/>
            <a:ext cx="128016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645920" y="4645152"/>
            <a:ext cx="11887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วันพฤหัสฯ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880360" y="4553712"/>
            <a:ext cx="86868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926079" y="4645152"/>
            <a:ext cx="777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76C"/>
                </a:solidFill>
              </a:rPr>
              <a:t>396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749039" y="4553712"/>
            <a:ext cx="123444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794759" y="4645152"/>
            <a:ext cx="1143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</a:rPr>
              <a:t>396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983479" y="4553712"/>
            <a:ext cx="123444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029199" y="4645152"/>
            <a:ext cx="1143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09090"/>
                </a:solidFill>
              </a:rPr>
              <a:t>-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217919" y="4553712"/>
            <a:ext cx="105156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263639" y="4645152"/>
            <a:ext cx="9601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9090"/>
                </a:solidFill>
              </a:rPr>
              <a:t>0.00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269479" y="4553712"/>
            <a:ext cx="123444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315199" y="4645152"/>
            <a:ext cx="1143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7D32"/>
                </a:solidFill>
              </a:rPr>
              <a:t>100.00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503919" y="4553712"/>
            <a:ext cx="132588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549640" y="4645152"/>
            <a:ext cx="12344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897B"/>
                </a:solidFill>
              </a:rPr>
              <a:t>275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829799" y="4553712"/>
            <a:ext cx="132588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875519" y="4645152"/>
            <a:ext cx="12344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</a:rPr>
              <a:t>✅ ปกติ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28600" y="5029200"/>
            <a:ext cx="13716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74320" y="5120640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15 พ.ค.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600200" y="5029200"/>
            <a:ext cx="12801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645920" y="5120640"/>
            <a:ext cx="11887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วันศุกร์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880360" y="5029200"/>
            <a:ext cx="8686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926079" y="5120640"/>
            <a:ext cx="777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76C"/>
                </a:solidFill>
              </a:rPr>
              <a:t>396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749039" y="5029200"/>
            <a:ext cx="12344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794759" y="5120640"/>
            <a:ext cx="1143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</a:rPr>
              <a:t>396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983479" y="5029200"/>
            <a:ext cx="12344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029199" y="5120640"/>
            <a:ext cx="1143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09090"/>
                </a:solidFill>
              </a:rPr>
              <a:t>-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217919" y="5029200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263639" y="5120640"/>
            <a:ext cx="9601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9090"/>
                </a:solidFill>
              </a:rPr>
              <a:t>0.00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269479" y="5029200"/>
            <a:ext cx="12344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315199" y="5120640"/>
            <a:ext cx="1143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7D32"/>
                </a:solidFill>
              </a:rPr>
              <a:t>100.00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503919" y="5029200"/>
            <a:ext cx="13258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549640" y="5120640"/>
            <a:ext cx="12344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897B"/>
                </a:solidFill>
              </a:rPr>
              <a:t>263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829799" y="5029200"/>
            <a:ext cx="13258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875519" y="5120640"/>
            <a:ext cx="12344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</a:rPr>
              <a:t>✅ ปกติ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28600" y="5504688"/>
            <a:ext cx="137160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74320" y="5596127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16 พ.ค.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600200" y="5504688"/>
            <a:ext cx="128016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645920" y="5596127"/>
            <a:ext cx="11887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วันเสาร์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880360" y="5504688"/>
            <a:ext cx="86868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926079" y="5596127"/>
            <a:ext cx="777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76C"/>
                </a:solidFill>
              </a:rPr>
              <a:t>404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749039" y="5504688"/>
            <a:ext cx="123444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794759" y="5596127"/>
            <a:ext cx="1143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</a:rPr>
              <a:t>400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983479" y="5504688"/>
            <a:ext cx="123444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029199" y="5596127"/>
            <a:ext cx="1143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4336"/>
                </a:solidFill>
              </a:rPr>
              <a:t>4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217919" y="5504688"/>
            <a:ext cx="105156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263639" y="5596127"/>
            <a:ext cx="9601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44336"/>
                </a:solidFill>
              </a:rPr>
              <a:t>0.99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269479" y="5504688"/>
            <a:ext cx="123444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315199" y="5596127"/>
            <a:ext cx="1143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7D32"/>
                </a:solidFill>
              </a:rPr>
              <a:t>99.01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503919" y="5504688"/>
            <a:ext cx="132588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8549640" y="5596127"/>
            <a:ext cx="12344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897B"/>
                </a:solidFill>
              </a:rPr>
              <a:t>341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829799" y="5504688"/>
            <a:ext cx="132588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9875519" y="5596127"/>
            <a:ext cx="12344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4336"/>
                </a:solidFill>
              </a:rPr>
              <a:t>⚠️ พบ NG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228600" y="5980176"/>
            <a:ext cx="1371600" cy="475488"/>
          </a:xfrm>
          <a:prstGeom prst="rect">
            <a:avLst/>
          </a:prstGeom>
          <a:solidFill>
            <a:srgbClr val="1A376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74320" y="6071616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600"/>
                </a:solidFill>
              </a:rPr>
              <a:t>รวม 6 วัน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600200" y="5980176"/>
            <a:ext cx="1280160" cy="475488"/>
          </a:xfrm>
          <a:prstGeom prst="rect">
            <a:avLst/>
          </a:prstGeom>
          <a:solidFill>
            <a:srgbClr val="1A376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645920" y="6071616"/>
            <a:ext cx="11887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600"/>
                </a:solidFill>
              </a:rPr>
              <a:t/>
            </a:r>
          </a:p>
        </p:txBody>
      </p:sp>
      <p:sp>
        <p:nvSpPr>
          <p:cNvPr id="158" name="Rectangle 157"/>
          <p:cNvSpPr/>
          <p:nvPr/>
        </p:nvSpPr>
        <p:spPr>
          <a:xfrm>
            <a:off x="2880360" y="5980176"/>
            <a:ext cx="868680" cy="475488"/>
          </a:xfrm>
          <a:prstGeom prst="rect">
            <a:avLst/>
          </a:prstGeom>
          <a:solidFill>
            <a:srgbClr val="1A376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2926079" y="6071616"/>
            <a:ext cx="777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600"/>
                </a:solidFill>
              </a:rPr>
              <a:t>2384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749039" y="5980176"/>
            <a:ext cx="1234440" cy="475488"/>
          </a:xfrm>
          <a:prstGeom prst="rect">
            <a:avLst/>
          </a:prstGeom>
          <a:solidFill>
            <a:srgbClr val="1A376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794759" y="6071616"/>
            <a:ext cx="1143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600"/>
                </a:solidFill>
              </a:rPr>
              <a:t>2376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4983479" y="5980176"/>
            <a:ext cx="1234440" cy="475488"/>
          </a:xfrm>
          <a:prstGeom prst="rect">
            <a:avLst/>
          </a:prstGeom>
          <a:solidFill>
            <a:srgbClr val="1A376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5029199" y="6071616"/>
            <a:ext cx="1143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600"/>
                </a:solidFill>
              </a:rPr>
              <a:t>8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217919" y="5980176"/>
            <a:ext cx="1051560" cy="475488"/>
          </a:xfrm>
          <a:prstGeom prst="rect">
            <a:avLst/>
          </a:prstGeom>
          <a:solidFill>
            <a:srgbClr val="1A376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263639" y="6071616"/>
            <a:ext cx="96011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600"/>
                </a:solidFill>
              </a:rPr>
              <a:t>0.34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269479" y="5980176"/>
            <a:ext cx="1234440" cy="475488"/>
          </a:xfrm>
          <a:prstGeom prst="rect">
            <a:avLst/>
          </a:prstGeom>
          <a:solidFill>
            <a:srgbClr val="1A376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315199" y="6071616"/>
            <a:ext cx="1143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600"/>
                </a:solidFill>
              </a:rPr>
              <a:t>99.66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8503919" y="5980176"/>
            <a:ext cx="1325880" cy="475488"/>
          </a:xfrm>
          <a:prstGeom prst="rect">
            <a:avLst/>
          </a:prstGeom>
          <a:solidFill>
            <a:srgbClr val="1A376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8549640" y="6071616"/>
            <a:ext cx="12344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600"/>
                </a:solidFill>
              </a:rPr>
              <a:t>296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9829799" y="5980176"/>
            <a:ext cx="1325880" cy="475488"/>
          </a:xfrm>
          <a:prstGeom prst="rect">
            <a:avLst/>
          </a:prstGeom>
          <a:solidFill>
            <a:srgbClr val="1A376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9875519" y="6071616"/>
            <a:ext cx="12344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600"/>
                </a:solidFill>
              </a:rPr>
              <a:t>✅ ผ่านเกณฑ์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กราฟผลการตรวจสอบรายวัน  |  Daily Inspection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600"/>
                </a:solidFill>
              </a:rPr>
              <a:t>O-Ring / Heat Pump Quality Inspection System | ระบบตรวจสอบคุณภาพด้วย AI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7 / 14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274320" y="1234440"/>
          <a:ext cx="7498079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7955279" y="1234440"/>
            <a:ext cx="39319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2344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76C"/>
                </a:solidFill>
              </a:rPr>
              <a:t>📊  สรุปผลรายสัปดาห์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783080"/>
            <a:ext cx="3566160" cy="530352"/>
          </a:xfrm>
          <a:prstGeom prst="rect">
            <a:avLst/>
          </a:prstGeom>
          <a:solidFill>
            <a:srgbClr val="F5F5F5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8196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ชิ้นงานรวม 6 วัน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2680" y="181965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196F3"/>
                </a:solidFill>
              </a:rPr>
              <a:t>2,384 units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2404872"/>
            <a:ext cx="3566160" cy="530352"/>
          </a:xfrm>
          <a:prstGeom prst="rect">
            <a:avLst/>
          </a:prstGeom>
          <a:solidFill>
            <a:srgbClr val="F5F5F5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24414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ผ่านการตรวจ (OK)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2680" y="244144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E7D32"/>
                </a:solidFill>
              </a:rPr>
              <a:t>2,376 units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3026664"/>
            <a:ext cx="3566160" cy="530352"/>
          </a:xfrm>
          <a:prstGeom prst="rect">
            <a:avLst/>
          </a:prstGeom>
          <a:solidFill>
            <a:srgbClr val="F5F5F5"/>
          </a:solidFill>
          <a:ln w="1905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30632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พบของเสีย (NG)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306324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44336"/>
                </a:solidFill>
              </a:rPr>
              <a:t>8 units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3648456"/>
            <a:ext cx="3566160" cy="530352"/>
          </a:xfrm>
          <a:prstGeom prst="rect">
            <a:avLst/>
          </a:prstGeom>
          <a:solidFill>
            <a:srgbClr val="F5F5F5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36850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OK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368503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897B"/>
                </a:solidFill>
              </a:rPr>
              <a:t>99.66%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4270248"/>
            <a:ext cx="3566160" cy="530352"/>
          </a:xfrm>
          <a:prstGeom prst="rect">
            <a:avLst/>
          </a:prstGeom>
          <a:solidFill>
            <a:srgbClr val="F5F5F5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79" y="43068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NG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430682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65100"/>
                </a:solidFill>
              </a:rPr>
              <a:t>0.34%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2440" y="4892040"/>
            <a:ext cx="3566160" cy="530352"/>
          </a:xfrm>
          <a:prstGeom prst="rect">
            <a:avLst/>
          </a:prstGeom>
          <a:solidFill>
            <a:srgbClr val="F5F5F5"/>
          </a:solidFill>
          <a:ln w="1905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9" y="492861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วันที่พบ NG สูงสุด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492861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44336"/>
                </a:solidFill>
              </a:rPr>
              <a:t>16 พ.ค. (4 units)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5513832"/>
            <a:ext cx="3566160" cy="530352"/>
          </a:xfrm>
          <a:prstGeom prst="rect">
            <a:avLst/>
          </a:prstGeom>
          <a:solidFill>
            <a:srgbClr val="F5F5F5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79" y="55504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จุดบกพร่องหลัก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555040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65100"/>
                </a:solidFill>
              </a:rPr>
              <a:t>Bolt &amp; Washer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การวิเคราะห์ข้อบกพร่อง  |  Defect Analysis by Inspection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600"/>
                </a:solidFill>
              </a:rPr>
              <a:t>O-Ring / Heat Pump Quality Inspection System | ระบบตรวจสอบคุณภาพด้วย AI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8 / 14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274320" y="1280160"/>
          <a:ext cx="594360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0" y="1234440"/>
            <a:ext cx="5486400" cy="5394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34440"/>
            <a:ext cx="5486400" cy="5029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344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รายละเอียดข้อบกพร่องที่พบ  |  Defect Detail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783080"/>
            <a:ext cx="1280160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1783080"/>
            <a:ext cx="2651760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24160" y="1783080"/>
            <a:ext cx="1371600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013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จุดตรวจ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18013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คำอธิบาย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9880" y="18013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2194560"/>
            <a:ext cx="128016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0" y="2194560"/>
            <a:ext cx="265176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424160" y="2194560"/>
            <a:ext cx="1371600" cy="502920"/>
          </a:xfrm>
          <a:prstGeom prst="rect">
            <a:avLst/>
          </a:prstGeom>
          <a:solidFill>
            <a:srgbClr val="FFEBEE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2860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Filter Drier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ผิดรุ่น / ติดตั้งผิด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69880" y="2286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4336"/>
                </a:solidFill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2761488"/>
            <a:ext cx="1280160" cy="502920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0" y="2761488"/>
            <a:ext cx="2651760" cy="502920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424160" y="2761488"/>
            <a:ext cx="1371600" cy="502920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8529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Hot Gas Valve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28529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ผิดทิศทาง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69880" y="28529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9090"/>
                </a:solidFill>
              </a:rPr>
              <a:t>-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3328415"/>
            <a:ext cx="128016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0" y="3328415"/>
            <a:ext cx="265176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424160" y="3328415"/>
            <a:ext cx="1371600" cy="502920"/>
          </a:xfrm>
          <a:prstGeom prst="rect">
            <a:avLst/>
          </a:prstGeom>
          <a:solidFill>
            <a:srgbClr val="FFEBEE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41985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Expansion Valve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341985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ขาดหายหรือผิดรุ่น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69880" y="341985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4336"/>
                </a:solidFill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3895344"/>
            <a:ext cx="1280160" cy="502920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3895344"/>
            <a:ext cx="2651760" cy="502920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24160" y="3895344"/>
            <a:ext cx="1371600" cy="502920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3986783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High Pressure Sensor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3986783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ไม่ครบ / หลวม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69880" y="3986783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9090"/>
                </a:solidFill>
              </a:rPr>
              <a:t>-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46520" y="4462272"/>
            <a:ext cx="128016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0" y="4462272"/>
            <a:ext cx="265176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424160" y="4462272"/>
            <a:ext cx="13716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45537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Common-Start-Run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18120" y="45537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สายผิดลำดับ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69880" y="455371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9090"/>
                </a:solidFill>
              </a:rPr>
              <a:t>-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46520" y="5029200"/>
            <a:ext cx="1280160" cy="502920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0" y="5029200"/>
            <a:ext cx="2651760" cy="502920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424160" y="5029200"/>
            <a:ext cx="1371600" cy="502920"/>
          </a:xfrm>
          <a:prstGeom prst="rect">
            <a:avLst/>
          </a:prstGeom>
          <a:solidFill>
            <a:srgbClr val="F5F5F5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5120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Check Valve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18120" y="5120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ผิดทิศทาง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69880" y="5120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9090"/>
                </a:solidFill>
              </a:rPr>
              <a:t>-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46520" y="5596127"/>
            <a:ext cx="128016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772400" y="5596127"/>
            <a:ext cx="265176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424160" y="5596127"/>
            <a:ext cx="1371600" cy="502920"/>
          </a:xfrm>
          <a:prstGeom prst="rect">
            <a:avLst/>
          </a:prstGeom>
          <a:solidFill>
            <a:srgbClr val="FFEBEE"/>
          </a:solidFill>
          <a:ln w="381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92240" y="5687567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Bolt &amp; Washer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18120" y="5687567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ขาดหายหรือไม่ครบ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69880" y="5687567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4336"/>
                </a:solidFill>
              </a:rPr>
              <a:t>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5806440"/>
            <a:ext cx="5486400" cy="777240"/>
          </a:xfrm>
          <a:prstGeom prst="rect">
            <a:avLst/>
          </a:prstGeom>
          <a:solidFill>
            <a:srgbClr val="FFF8E1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92240" y="58521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5100"/>
                </a:solidFill>
              </a:rPr>
              <a:t>⚠️  สาเหตุหลัก: พนักงานหยิบชิ้นส่วนผิด และลืมใส่อุปกรณ์  (Human Error)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ความแม่นยำในการตรวจจับ  |  Detection Accuracy Test  (เป้าหมาย ≥ 95%)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600"/>
                </a:solidFill>
              </a:rPr>
              <a:t>O-Ring / Heat Pump Quality Inspection System | ระบบตรวจสอบคุณภาพด้วย AI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9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303520" cy="5394960"/>
          </a:xfrm>
          <a:prstGeom prst="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530352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234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ผลการทดสอบความแม่นยำ  |  Accuracy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74519"/>
            <a:ext cx="457200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2E7D32"/>
                </a:solidFill>
              </a:rPr>
              <a:t>97.5%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46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</a:rPr>
              <a:t>Detection Accuracy  (≥ 95% ✅ ผ่านเกณฑ์)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6C"/>
                </a:solidFill>
              </a:rPr>
              <a:t>วิธีการทดสอบ  |  Test 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5196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424242"/>
                </a:solidFill>
              </a:rPr>
              <a:t>• ฉีดข้อบกพร่องที่ทราบแน่ชัด  40 รายการ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24242"/>
                </a:solidFill>
              </a:rPr>
              <a:t>  (ทดสอบทุก 7 จุดตรวจ × 5-6 รูปแบบ)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24242"/>
                </a:solidFill>
              </a:rPr>
              <a:t>• ระบบตรวจพบ: 39 รายการ  /  พลาด: 1 รายการ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24242"/>
                </a:solidFill>
              </a:rPr>
              <a:t>• อัตราตรวจพบ (Recall): 97.5%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24242"/>
                </a:solidFill>
              </a:rPr>
              <a:t>• อัตรา False Positive: &lt; 2.0%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1234440"/>
            <a:ext cx="6126480" cy="5394960"/>
          </a:xfrm>
          <a:prstGeom prst="rect">
            <a:avLst/>
          </a:prstGeom>
          <a:solidFill>
            <a:srgbClr val="FFFFFF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1234440"/>
            <a:ext cx="6126480" cy="4572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123444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ตาราง Confusion Matrix  |  Performance Metrics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97880" y="1828800"/>
            <a:ext cx="1645920" cy="868680"/>
          </a:xfrm>
          <a:prstGeom prst="rect">
            <a:avLst/>
          </a:prstGeom>
          <a:solidFill>
            <a:srgbClr val="1A376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20116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7543800" y="1828800"/>
            <a:ext cx="2148840" cy="868680"/>
          </a:xfrm>
          <a:prstGeom prst="rect">
            <a:avLst/>
          </a:prstGeom>
          <a:solidFill>
            <a:srgbClr val="1A376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201168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ระบบตัดสิน: 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1828800"/>
            <a:ext cx="2148840" cy="868680"/>
          </a:xfrm>
          <a:prstGeom prst="rect">
            <a:avLst/>
          </a:prstGeom>
          <a:solidFill>
            <a:srgbClr val="1A376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01168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ระบบตัดสิน: OK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97880" y="2788920"/>
            <a:ext cx="1645920" cy="868680"/>
          </a:xfrm>
          <a:prstGeom prst="rect">
            <a:avLst/>
          </a:prstGeom>
          <a:solidFill>
            <a:srgbClr val="1A376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29718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จริง: 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43800" y="2788920"/>
            <a:ext cx="2148840" cy="868680"/>
          </a:xfrm>
          <a:prstGeom prst="rect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29718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39  (TP)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2788920"/>
            <a:ext cx="2148840" cy="868680"/>
          </a:xfrm>
          <a:prstGeom prst="rect">
            <a:avLst/>
          </a:prstGeom>
          <a:solidFill>
            <a:srgbClr val="F4433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29718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  (FN)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97880" y="3749039"/>
            <a:ext cx="1645920" cy="868680"/>
          </a:xfrm>
          <a:prstGeom prst="rect">
            <a:avLst/>
          </a:prstGeom>
          <a:solidFill>
            <a:srgbClr val="1A376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393192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จริง: OK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3800" y="3749039"/>
            <a:ext cx="2148840" cy="868680"/>
          </a:xfrm>
          <a:prstGeom prst="rect">
            <a:avLst/>
          </a:prstGeom>
          <a:solidFill>
            <a:srgbClr val="E651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0" y="393192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  (FP)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92640" y="3749039"/>
            <a:ext cx="2148840" cy="868680"/>
          </a:xfrm>
          <a:prstGeom prst="rect">
            <a:avLst/>
          </a:prstGeom>
          <a:solidFill>
            <a:srgbClr val="00897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393192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2,341  (TN)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97880" y="4846320"/>
            <a:ext cx="2834640" cy="685800"/>
          </a:xfrm>
          <a:prstGeom prst="rect">
            <a:avLst/>
          </a:prstGeom>
          <a:solidFill>
            <a:srgbClr val="F5F5F5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89320" y="4892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Precision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8920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2E7D32"/>
                </a:solidFill>
              </a:rPr>
              <a:t>97.5%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523036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09090"/>
                </a:solidFill>
              </a:rPr>
              <a:t>TP / (TP+FP)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15400" y="4846320"/>
            <a:ext cx="2834640" cy="685800"/>
          </a:xfrm>
          <a:prstGeom prst="rect">
            <a:avLst/>
          </a:prstGeom>
          <a:solidFill>
            <a:srgbClr val="F5F5F5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6840" y="4892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Recall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04120" y="48920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2E7D32"/>
                </a:solidFill>
              </a:rPr>
              <a:t>97.5%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6840" y="523036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09090"/>
                </a:solidFill>
              </a:rPr>
              <a:t>TP / (TP+FN)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97880" y="5669280"/>
            <a:ext cx="2834640" cy="685800"/>
          </a:xfrm>
          <a:prstGeom prst="rect">
            <a:avLst/>
          </a:prstGeom>
          <a:solidFill>
            <a:srgbClr val="F5F5F5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89320" y="5715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Specificity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600" y="57150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2E7D32"/>
                </a:solidFill>
              </a:rPr>
              <a:t>99.96%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89320" y="60533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09090"/>
                </a:solidFill>
              </a:rPr>
              <a:t>TN / (TN+FP)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15400" y="5669280"/>
            <a:ext cx="2834640" cy="685800"/>
          </a:xfrm>
          <a:prstGeom prst="rect">
            <a:avLst/>
          </a:prstGeom>
          <a:solidFill>
            <a:srgbClr val="F5F5F5"/>
          </a:solidFill>
          <a:ln w="1524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06840" y="5715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F1-Score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04120" y="57150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2E7D32"/>
                </a:solidFill>
              </a:rPr>
              <a:t>97.5%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6840" y="60533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09090"/>
                </a:solidFill>
              </a:rPr>
              <a:t>Harmonic Mean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ประสิทธิภาพเวลาประมวลผล  |  Processing Time Performance  (เป้าหมาย &lt; 500 ms)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600"/>
                </a:solidFill>
              </a:rPr>
              <a:t>O-Ring / Heat Pump Quality Inspection System | ระบบตรวจสอบคุณภาพด้วย AI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10 / 14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274320" y="1234440"/>
          <a:ext cx="7772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8229600" y="1234440"/>
            <a:ext cx="365760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1234440"/>
            <a:ext cx="3657600" cy="4572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234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ตัวเลขสำคัญ  |  Key Numbers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783080"/>
            <a:ext cx="34747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87451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ค่าต่ำสุด (Min)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1874519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E7D32"/>
                </a:solidFill>
              </a:rPr>
              <a:t>263 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423160"/>
            <a:ext cx="34747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5146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ค่าสูงสุด (Max)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25146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65100"/>
                </a:solidFill>
              </a:rPr>
              <a:t>341 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3063239"/>
            <a:ext cx="34747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315467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ค่าเฉลี่ย (Avg)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3154679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196F3"/>
                </a:solidFill>
              </a:rPr>
              <a:t>296 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3703320"/>
            <a:ext cx="34747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79475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เป้าหมาย (Target)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3794759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909090"/>
                </a:solidFill>
              </a:rPr>
              <a:t>500 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4343400"/>
            <a:ext cx="34747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4434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ส่วนต่างจากเป้า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44348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E7D32"/>
                </a:solidFill>
              </a:rPr>
              <a:t>−159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4983480"/>
            <a:ext cx="34747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5074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ผลการประเมิน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50749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E7D32"/>
                </a:solidFill>
              </a:rPr>
              <a:t>✅  ผ่านเกณฑ์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760720"/>
            <a:ext cx="11612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7790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ส่วนประกอบเวลาประมวลผล  |  Processing Time Breakdown: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1920" y="5779008"/>
            <a:ext cx="1280160" cy="685800"/>
          </a:xfrm>
          <a:prstGeom prst="rect">
            <a:avLst/>
          </a:prstGeom>
          <a:solidFill>
            <a:srgbClr val="F5F5F5"/>
          </a:solidFill>
          <a:ln w="1016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77639" y="579729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6C"/>
                </a:solidFill>
              </a:rPr>
              <a:t>Frame Grab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7639" y="60899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897B"/>
                </a:solidFill>
              </a:rPr>
              <a:t>~80 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03520" y="5779008"/>
            <a:ext cx="1280160" cy="685800"/>
          </a:xfrm>
          <a:prstGeom prst="rect">
            <a:avLst/>
          </a:prstGeom>
          <a:solidFill>
            <a:srgbClr val="F5F5F5"/>
          </a:solidFill>
          <a:ln w="1016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49240" y="579729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6C"/>
                </a:solidFill>
              </a:rPr>
              <a:t>Image Decode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60899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897B"/>
                </a:solidFill>
              </a:rPr>
              <a:t>~15 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0" y="5779008"/>
            <a:ext cx="1280160" cy="685800"/>
          </a:xfrm>
          <a:prstGeom prst="rect">
            <a:avLst/>
          </a:prstGeom>
          <a:solidFill>
            <a:srgbClr val="F5F5F5"/>
          </a:solidFill>
          <a:ln w="1016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0840" y="579729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6C"/>
                </a:solidFill>
              </a:rPr>
              <a:t>Template Match ×7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60899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897B"/>
                </a:solidFill>
              </a:rPr>
              <a:t>~120 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6720" y="5779008"/>
            <a:ext cx="1280160" cy="685800"/>
          </a:xfrm>
          <a:prstGeom prst="rect">
            <a:avLst/>
          </a:prstGeom>
          <a:solidFill>
            <a:srgbClr val="F5F5F5"/>
          </a:solidFill>
          <a:ln w="1016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92440" y="579729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6C"/>
                </a:solidFill>
              </a:rPr>
              <a:t>NG Detection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40" y="60899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897B"/>
                </a:solidFill>
              </a:rPr>
              <a:t>~30 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18320" y="5779008"/>
            <a:ext cx="1280160" cy="685800"/>
          </a:xfrm>
          <a:prstGeom prst="rect">
            <a:avLst/>
          </a:prstGeom>
          <a:solidFill>
            <a:srgbClr val="F5F5F5"/>
          </a:solidFill>
          <a:ln w="1016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64040" y="579729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6C"/>
                </a:solidFill>
              </a:rPr>
              <a:t>Annotation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64040" y="60899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897B"/>
                </a:solidFill>
              </a:rPr>
              <a:t>~25 ms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789920" y="5779008"/>
            <a:ext cx="1280160" cy="685800"/>
          </a:xfrm>
          <a:prstGeom prst="rect">
            <a:avLst/>
          </a:prstGeom>
          <a:solidFill>
            <a:srgbClr val="F5F5F5"/>
          </a:solidFill>
          <a:ln w="1016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835640" y="579729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6C"/>
                </a:solidFill>
              </a:rPr>
              <a:t>CSV + Save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35640" y="60899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897B"/>
                </a:solidFill>
              </a:rPr>
              <a:t>~BG thread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การลดต้นทุนและเวลา  |  Cost &amp; Time Reduction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600"/>
                </a:solidFill>
              </a:rPr>
              <a:t>O-Ring / Heat Pump Quality Inspection System | ระบบตรวจสอบคุณภาพด้วย AI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11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577840" cy="5394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5577840" cy="5029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23444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💰  การลดต้นทุนการเคลมของเสีย  |  Claim Cost Reduction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1051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09090"/>
                </a:solidFill>
              </a:rPr>
              <a:t>สมมติฐาน: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574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• NG หลุดรอด (human): 3.2 unit/วัน  • ค่าเคลมต่อหน่วย: 3,500 บาท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606040"/>
            <a:ext cx="5303520" cy="685800"/>
          </a:xfrm>
          <a:prstGeom prst="rect">
            <a:avLst/>
          </a:prstGeom>
          <a:solidFill>
            <a:srgbClr val="FFF8E1"/>
          </a:solidFill>
          <a:ln w="1905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7919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ก่อนใช้ระบบ (Human Inspection)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67919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44336"/>
                </a:solidFill>
              </a:rPr>
              <a:t>67,200 บาท/สัปดาห์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410712"/>
            <a:ext cx="5303520" cy="685800"/>
          </a:xfrm>
          <a:prstGeom prst="rect">
            <a:avLst/>
          </a:prstGeom>
          <a:solidFill>
            <a:srgbClr val="FFF8E1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483864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หลังใช้ระบบ (AI Inspection)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48386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2E7D32"/>
                </a:solidFill>
              </a:rPr>
              <a:t>1,680 บาท/สัปดาห์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215384"/>
            <a:ext cx="5303520" cy="685800"/>
          </a:xfrm>
          <a:prstGeom prst="rect">
            <a:avLst/>
          </a:prstGeom>
          <a:solidFill>
            <a:srgbClr val="F5F5F5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8853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ประหยัดได้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28853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2196F3"/>
                </a:solidFill>
              </a:rPr>
              <a:t>65,520 บาท/สัปดาห์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020056"/>
            <a:ext cx="5303520" cy="685800"/>
          </a:xfrm>
          <a:prstGeom prst="rect">
            <a:avLst/>
          </a:prstGeom>
          <a:solidFill>
            <a:srgbClr val="F5F5F5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0932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อัตราลดลง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09320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2196F3"/>
                </a:solidFill>
              </a:rPr>
              <a:t>97.5%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833872"/>
            <a:ext cx="5303520" cy="658368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8704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✅  ลดต้นทุนการเคลม 97.5%  (เป้าหมาย ≥ 50%)  →  ผ่านเกณฑ์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234440"/>
            <a:ext cx="5760720" cy="5394960"/>
          </a:xfrm>
          <a:prstGeom prst="rect">
            <a:avLst/>
          </a:prstGeom>
          <a:solidFill>
            <a:srgbClr val="FFFF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1234440"/>
            <a:ext cx="5760720" cy="5029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123444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⏱️  การลดเวลาตรวจสอบ  |  Inspection Time Reduction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18105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09090"/>
                </a:solidFill>
              </a:rPr>
              <a:t>สมมติฐาน: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0574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• Human: ตรวจ 8 จุด/unit ใช้ 45 วินาที  • System: 341 ms/unit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606040"/>
            <a:ext cx="5486400" cy="685800"/>
          </a:xfrm>
          <a:prstGeom prst="rect">
            <a:avLst/>
          </a:prstGeom>
          <a:solidFill>
            <a:srgbClr val="FFF8E1"/>
          </a:solidFill>
          <a:ln w="1905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67919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Human Inspection (ก่อน)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267919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44336"/>
                </a:solidFill>
              </a:rPr>
              <a:t>45 วินาที/unit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410712"/>
            <a:ext cx="5486400" cy="685800"/>
          </a:xfrm>
          <a:prstGeom prst="rect">
            <a:avLst/>
          </a:prstGeom>
          <a:solidFill>
            <a:srgbClr val="FFF8E1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48386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AI System (หลัง)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348386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2E7D32"/>
                </a:solidFill>
              </a:rPr>
              <a:t>341 มิลลิวินาที/unit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4215384"/>
            <a:ext cx="5486400" cy="685800"/>
          </a:xfrm>
          <a:prstGeom prst="rect">
            <a:avLst/>
          </a:prstGeom>
          <a:solidFill>
            <a:srgbClr val="F5F5F5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28853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ประหยัดเวลา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428853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2196F3"/>
                </a:solidFill>
              </a:rPr>
              <a:t>44.7 วินาที/unit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5020056"/>
            <a:ext cx="5486400" cy="685800"/>
          </a:xfrm>
          <a:prstGeom prst="rect">
            <a:avLst/>
          </a:prstGeom>
          <a:solidFill>
            <a:srgbClr val="F5F5F5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509320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อัตราลดลง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50932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2196F3"/>
                </a:solidFill>
              </a:rPr>
              <a:t>99.2%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5833872"/>
            <a:ext cx="5486400" cy="658368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587044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✅  ลดเวลาตรวจสอบ 99.2%  (เป้าหมาย &gt; 50%)  →  ผ่านเกณฑ์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เปรียบเทียบก่อน – หลัง  |  Before vs After System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600"/>
                </a:solidFill>
              </a:rPr>
              <a:t>O-Ring / Heat Pump Quality Inspection System | ระบบตรวจสอบคุณภาพด้วย AI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12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394960" cy="5394960"/>
          </a:xfrm>
          <a:prstGeom prst="rect">
            <a:avLst/>
          </a:prstGeom>
          <a:solidFill>
            <a:srgbClr val="FFEBEE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5394960" cy="54864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234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❌  ก่อนใช้ระบบ  |  Before (Manual Inspection)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4242"/>
                </a:solidFill>
              </a:rPr>
              <a:t>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24242"/>
                </a:solidFill>
              </a:rPr>
              <a:t>เวลาตรวจสอบ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1965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4336"/>
                </a:solidFill>
              </a:rPr>
              <a:t>~45 วินาที / ชิ้น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54203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4242"/>
                </a:solidFill>
              </a:rPr>
              <a:t>👁️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5877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24242"/>
                </a:solidFill>
              </a:rPr>
              <a:t>วิธีการ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5877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4336"/>
                </a:solidFill>
              </a:rPr>
              <a:t>ตรวจสอบด้วยสายตา (Visual Inspection)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63824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4242"/>
                </a:solidFill>
              </a:rPr>
              <a:t>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095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24242"/>
                </a:solidFill>
              </a:rPr>
              <a:t>อัตราตรวจพบ 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20954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4336"/>
                </a:solidFill>
              </a:rPr>
              <a:t>~85%  (พลาดเฉลี่ย 15%)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85616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4242"/>
                </a:solidFill>
              </a:rPr>
              <a:t>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3133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24242"/>
                </a:solidFill>
              </a:rPr>
              <a:t>ค่าเคลมรายสัปดาห์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83133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4336"/>
                </a:solidFill>
              </a:rPr>
              <a:t>~67,200 บาท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07408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4242"/>
                </a:solidFill>
              </a:rPr>
              <a:t>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4531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24242"/>
                </a:solidFill>
              </a:rPr>
              <a:t>ผลลัพธ์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4531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4336"/>
                </a:solidFill>
              </a:rPr>
              <a:t>ไม่สม่ำเสมอ ขึ้นอยู่กับพนักงาน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2920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4242"/>
                </a:solidFill>
              </a:rPr>
              <a:t>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074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24242"/>
                </a:solidFill>
              </a:rPr>
              <a:t>การบันทึก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5074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4336"/>
                </a:solidFill>
              </a:rPr>
              <a:t>Manual Log ไม่ครบถ้วน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65099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4242"/>
                </a:solidFill>
              </a:rPr>
              <a:t>⚠️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967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24242"/>
                </a:solidFill>
              </a:rPr>
              <a:t>Human Error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56967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4336"/>
                </a:solidFill>
              </a:rPr>
              <a:t>ลืม / เหนื่อย / ไม่ตั้งใจ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347472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196F3"/>
                </a:solidFill>
              </a:rPr>
              <a:t>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1234440"/>
            <a:ext cx="5394960" cy="539496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92240" y="1234440"/>
            <a:ext cx="539496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12344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✅  หลังใช้ระบบ  |  After (AI Vision System)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192024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4242"/>
                </a:solidFill>
              </a:rPr>
              <a:t>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24242"/>
                </a:solidFill>
              </a:rPr>
              <a:t>เวลาตรวจสอบ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1965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7D32"/>
                </a:solidFill>
              </a:rPr>
              <a:t>&lt; 500 ms / ชิ้น  (เฉลี่ย 296 ms)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254203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4242"/>
                </a:solidFill>
              </a:rPr>
              <a:t>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25877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24242"/>
                </a:solidFill>
              </a:rPr>
              <a:t>วิธีการ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25877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7D32"/>
                </a:solidFill>
              </a:rPr>
              <a:t>AI Vision + OpenCV Template Matching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3163824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4242"/>
                </a:solidFill>
              </a:rPr>
              <a:t>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32095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24242"/>
                </a:solidFill>
              </a:rPr>
              <a:t>อัตราตรวจพบ 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320954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7D32"/>
                </a:solidFill>
              </a:rPr>
              <a:t>97.5%  (≥ 95% ✅)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3785616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4242"/>
                </a:solidFill>
              </a:rPr>
              <a:t>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383133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24242"/>
                </a:solidFill>
              </a:rPr>
              <a:t>ค่าเคลมรายสัปดาห์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383133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7D32"/>
                </a:solidFill>
              </a:rPr>
              <a:t>~1,680 บาท  (-98%)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4407408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4242"/>
                </a:solidFill>
              </a:rPr>
              <a:t>✔️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0" y="44531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24242"/>
                </a:solidFill>
              </a:rPr>
              <a:t>ผลลัพธ์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44531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7D32"/>
                </a:solidFill>
              </a:rPr>
              <a:t>สม่ำเสมอ 100% ทุกชิ้น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502920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4242"/>
                </a:solidFill>
              </a:rPr>
              <a:t>📊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5074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24242"/>
                </a:solidFill>
              </a:rPr>
              <a:t>การบันทึก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8240" y="5074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7D32"/>
                </a:solidFill>
              </a:rPr>
              <a:t>Auto CSV + JPEG ทุก Timestamp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565099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4242"/>
                </a:solidFill>
              </a:rPr>
              <a:t>🛡️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0" y="56967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24242"/>
                </a:solidFill>
              </a:rPr>
              <a:t>Human Error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78240" y="56967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7D32"/>
                </a:solidFill>
              </a:rPr>
              <a:t>ระบบไม่เหนื่อย ไม่ลืม สม่ำเสมอ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สรุปการบรรลุวัตถุประสงค์  |  Objective Achievement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600"/>
                </a:solidFill>
              </a:rPr>
              <a:t>O-Ring / Heat Pump Quality Inspection System | ระบบตรวจสอบคุณภาพด้วย AI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13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669280" cy="1627632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502920" cy="16276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783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280160"/>
            <a:ext cx="118872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2801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✅ บรรลุ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32588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6C"/>
                </a:solidFill>
              </a:rPr>
              <a:t>ศึกษาและวิเคราะห์ข้อบกพร่องจาก Human 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7830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พบ 7 รูปแบบข้อบกพร่อง จาก 8 จุดตรวจ ใน 6 วันทำการ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017520"/>
            <a:ext cx="5669280" cy="1627632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017520"/>
            <a:ext cx="502920" cy="16276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566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3063239"/>
            <a:ext cx="118872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06323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✅ บรรลุ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10896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6C"/>
                </a:solidFill>
              </a:rPr>
              <a:t>พัฒนาระบบ Real-time ความเร็ว &lt; 500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5661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เวลาเฉลี่ย 296 ms  |  สูงสุด 341 ms  (ต่ำกว่าเป้าหมาย 500 ms)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800600"/>
            <a:ext cx="5669280" cy="1627632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800600"/>
            <a:ext cx="502920" cy="16276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5349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4846320"/>
            <a:ext cx="118872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48463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✅ บรรลุ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6C"/>
                </a:solidFill>
              </a:rPr>
              <a:t>ความแม่นยำตรวจพบ NG ≥ 95%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3492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Recall = 97.5%  จาก 40 known defects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234440"/>
            <a:ext cx="5669280" cy="1627632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1234440"/>
            <a:ext cx="502920" cy="16276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1783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07040" y="1280160"/>
            <a:ext cx="118872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07040" y="12801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✅ บรรลุ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132588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6C"/>
                </a:solidFill>
              </a:rPr>
              <a:t>ลดต้นทุนการเคลม ≥ 50%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17830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ลดลง 97.5%  (จาก 67,200 → 1,680 บาท/สัปดาห์)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017520"/>
            <a:ext cx="5669280" cy="1627632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3017520"/>
            <a:ext cx="502920" cy="16276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3566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07040" y="3063239"/>
            <a:ext cx="118872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07040" y="306323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✅ บรรลุ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310896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6C"/>
                </a:solidFill>
              </a:rPr>
              <a:t>ลดเวลา/ต้นทุนกระบวนการ &gt; 50%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35661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ลดเวลาตรวจ 99.2%  (45 วิ → 341 ms/unit)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4800600"/>
            <a:ext cx="5669280" cy="1627632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4800600"/>
            <a:ext cx="502920" cy="16276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5349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607040" y="4846320"/>
            <a:ext cx="118872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607040" y="48463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✅ บรรลุ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2280" y="48920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6C"/>
                </a:solidFill>
              </a:rPr>
              <a:t>เสนอแนวทางต่อยอดระบบ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53492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24242"/>
                </a:solidFill>
              </a:rPr>
              <a:t>Proposed: Multi-model, Cloud sync, PLC integration, Mobile alert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88952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สรุปและข้อเสนอแนะ  |  Conclusion &amp; Recommendations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600"/>
                </a:solidFill>
              </a:rPr>
              <a:t>O-Ring / Heat Pump Quality Inspection System | ระบบตรวจสอบคุณภาพด้วย AI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14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600"/>
                </a:solidFill>
              </a:rPr>
              <a:t>📌  สรุปผลโครงงาน  |  Project 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✅  ระบบตรวจสอบคุณภาพ Real-time ด้วย OpenCV Template Matching ทำงานได้จริงในสภาพแวดล้อมโรงงาน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2140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✅  ตรวจสอบชิ้นงาน Heat Pump รวม 2,388 ชิ้น ใน 6 วันทำการ (11–16 พ.ค. 2569)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05456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✅  ความแม่นยำในการตรวจจับ NG = 97.5%  เกินเป้าหมาย 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8950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✅  เวลาประมวลผลเฉลี่ย 296 ms  ต่ำกว่าเป้าหมาย 500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7355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✅  ลดต้นทุนการเคลม 97.5%  และลดเวลาตรวจสอบ 99.2%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7033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</a:rPr>
              <a:t>💡  ข้อเสนอแนะการต่อยอด  |  Future Recommendations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187952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24242"/>
                </a:solidFill>
              </a:rPr>
              <a:t>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0624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</a:rPr>
              <a:t>PLC / SCADA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079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5F5"/>
                </a:solidFill>
              </a:rPr>
              <a:t>เชื่อมต่อกับสายการผลิตอัตโนมัติเพื่อหยุดสายเมื่อพบ 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187952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24242"/>
                </a:solidFill>
              </a:rPr>
              <a:t>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20624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</a:rPr>
              <a:t>Cloud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5079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5F5"/>
                </a:solidFill>
              </a:rPr>
              <a:t>รายงาน Real-time ผ่าน Web ให้ผู้บริหารดูได้ทุกที่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919472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24242"/>
                </a:solidFill>
              </a:rPr>
              <a:t>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</a:rPr>
              <a:t>Deep Learning Upgrade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3951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5F5"/>
                </a:solidFill>
              </a:rPr>
              <a:t>เพิ่ม YOLO / CNN สำหรับตรวจจับรูปแบบซับซ้อนขึ้น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919472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24242"/>
                </a:solidFill>
              </a:rPr>
              <a:t>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937759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</a:rPr>
              <a:t>Mobile Alert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23951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5F5"/>
                </a:solidFill>
              </a:rPr>
              <a:t>แจ้งเตือน LINE / SMS เมื่อพบของเสียเกินเกณฑ์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576072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ขอบคุณ  |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